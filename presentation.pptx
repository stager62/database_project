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60" r:id="rId5"/>
    <p:sldId id="261" r:id="rId6"/>
    <p:sldId id="258" r:id="rId7"/>
    <p:sldId id="265" r:id="rId8"/>
  </p:sldIdLst>
  <p:sldSz cx="9144000" cy="5143500" type="screen16x9"/>
  <p:notesSz cx="51435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6981"/>
    <a:srgbClr val="F0DE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5845" autoAdjust="0"/>
  </p:normalViewPr>
  <p:slideViewPr>
    <p:cSldViewPr snapToGrid="0" snapToObjects="1">
      <p:cViewPr varScale="1">
        <p:scale>
          <a:sx n="127" d="100"/>
          <a:sy n="127" d="100"/>
        </p:scale>
        <p:origin x="620" y="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857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6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sv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71900" cy="5143500"/>
          </a:xfrm>
          <a:prstGeom prst="rect">
            <a:avLst/>
          </a:prstGeom>
          <a:solidFill>
            <a:srgbClr val="F0DEDC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710" y="599405"/>
            <a:ext cx="2958480" cy="39446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71901" y="2073813"/>
            <a:ext cx="5372099" cy="995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Создание базы данных для платформы онлайн-обучения</a:t>
            </a:r>
            <a:endParaRPr lang="en-US" sz="3200" dirty="0">
              <a:solidFill>
                <a:srgbClr val="4B698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3771900" y="4689872"/>
            <a:ext cx="5372099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50"/>
              </a:lnSpc>
              <a:buNone/>
            </a:pPr>
            <a:r>
              <a:rPr lang="ru-RU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Прохоренко Сергей Андреевич</a:t>
            </a:r>
          </a:p>
          <a:p>
            <a:pPr marL="0" indent="0" algn="ctr">
              <a:lnSpc>
                <a:spcPts val="1750"/>
              </a:lnSpc>
              <a:buNone/>
            </a:pPr>
            <a:r>
              <a:rPr lang="en-US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ИРНИТУ, ИСИ</a:t>
            </a:r>
            <a:r>
              <a:rPr lang="ru-RU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б</a:t>
            </a:r>
            <a:r>
              <a:rPr lang="en-US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-24-1</a:t>
            </a:r>
            <a:r>
              <a:rPr lang="ru-RU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, 2026 г.</a:t>
            </a:r>
            <a:endParaRPr lang="en-US" sz="1100" dirty="0">
              <a:solidFill>
                <a:srgbClr val="4B698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2">
            <a:extLst>
              <a:ext uri="{FF2B5EF4-FFF2-40B4-BE49-F238E27FC236}">
                <a16:creationId xmlns:a16="http://schemas.microsoft.com/office/drawing/2014/main" id="{7786C684-1C59-448D-211C-8EE83BEABED1}"/>
              </a:ext>
            </a:extLst>
          </p:cNvPr>
          <p:cNvSpPr/>
          <p:nvPr/>
        </p:nvSpPr>
        <p:spPr>
          <a:xfrm>
            <a:off x="6659092" y="2165560"/>
            <a:ext cx="2290465" cy="2414067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3162"/>
            <a:ext cx="3771900" cy="5143500"/>
          </a:xfrm>
          <a:prstGeom prst="rect">
            <a:avLst/>
          </a:prstGeom>
          <a:solidFill>
            <a:srgbClr val="F0DEDC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710" y="599405"/>
            <a:ext cx="2958480" cy="39446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71900" y="799057"/>
            <a:ext cx="5372100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Актуальность и цель</a:t>
            </a:r>
            <a:endParaRPr lang="en-US" sz="3200" dirty="0">
              <a:solidFill>
                <a:srgbClr val="4B6981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3961917" y="2165560"/>
            <a:ext cx="2290465" cy="2414067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6" name="Text 3"/>
          <p:cNvSpPr/>
          <p:nvPr/>
        </p:nvSpPr>
        <p:spPr>
          <a:xfrm>
            <a:off x="3961917" y="2348532"/>
            <a:ext cx="22904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Актуальность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3961917" y="2752960"/>
            <a:ext cx="2290465" cy="1826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ru-RU" sz="1100" dirty="0">
                <a:solidFill>
                  <a:srgbClr val="4B6981"/>
                </a:solidFill>
              </a:rPr>
              <a:t>Автоматизация учёта студентов, курсов, заданий и оценок необходима для точного контроля успеваемости и отчётности</a:t>
            </a:r>
          </a:p>
        </p:txBody>
      </p:sp>
      <p:sp>
        <p:nvSpPr>
          <p:cNvPr id="9" name="Text 6"/>
          <p:cNvSpPr/>
          <p:nvPr/>
        </p:nvSpPr>
        <p:spPr>
          <a:xfrm>
            <a:off x="6659091" y="2347253"/>
            <a:ext cx="22904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Цель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659092" y="2752960"/>
            <a:ext cx="2290465" cy="1826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1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Спроектировать БД, которая хранит преподавателей, студентов, курсы, задания, записи и сдачи</a:t>
            </a:r>
            <a:endParaRPr lang="en-US" sz="1100" dirty="0">
              <a:solidFill>
                <a:srgbClr val="4B698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-1" y="875498"/>
            <a:ext cx="9144001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Схемы </a:t>
            </a:r>
            <a:r>
              <a:rPr lang="en-US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базы данных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A8C4435-C0E4-EBBD-9ED9-6A62C918E7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02" t="1480" r="980" b="2040"/>
          <a:stretch>
            <a:fillRect/>
          </a:stretch>
        </p:blipFill>
        <p:spPr>
          <a:xfrm>
            <a:off x="138219" y="2210009"/>
            <a:ext cx="3409785" cy="199522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D2F96AA-2AA1-35A9-5937-9E481D889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3011" y="2210009"/>
            <a:ext cx="5262770" cy="199522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6679"/>
            <a:ext cx="9143999" cy="4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Создание, заполнение и проверка базы данных</a:t>
            </a:r>
            <a:endParaRPr lang="en-US" sz="3200" dirty="0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CCB8D309-23CC-45E2-FE44-2F63CE3A6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2" y="1789795"/>
            <a:ext cx="3801005" cy="143847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E792C69E-7851-AFCD-5FCE-6E0F105B7F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3153" y="3815464"/>
            <a:ext cx="5677692" cy="120031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CEC37AE-3858-D7BC-6997-56EB3058E7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923" y="1598109"/>
            <a:ext cx="4034925" cy="182184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94688"/>
            <a:ext cx="9144000" cy="408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200"/>
              </a:lnSpc>
              <a:buNone/>
            </a:pP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Дополнительные улучшения</a:t>
            </a:r>
            <a:endParaRPr lang="en-US" sz="3200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DA708DCD-3638-EF67-4B3A-9DF04125F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261" y="769987"/>
            <a:ext cx="4319295" cy="156324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76CBA18-4B78-D4A4-FB17-C3EA2273B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904" y="2464977"/>
            <a:ext cx="2809096" cy="25717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524489B0-EB7B-1FF4-3E12-4B8FEFE84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295" y="852682"/>
            <a:ext cx="2402476" cy="404588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">
            <a:extLst>
              <a:ext uri="{FF2B5EF4-FFF2-40B4-BE49-F238E27FC236}">
                <a16:creationId xmlns:a16="http://schemas.microsoft.com/office/drawing/2014/main" id="{9657174A-AFEA-C2BE-FA71-C9AE78755329}"/>
              </a:ext>
            </a:extLst>
          </p:cNvPr>
          <p:cNvSpPr/>
          <p:nvPr/>
        </p:nvSpPr>
        <p:spPr>
          <a:xfrm>
            <a:off x="5013684" y="3546276"/>
            <a:ext cx="2290465" cy="1024646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690B3531-C6AA-B0EF-DBC2-16B32C922A1E}"/>
              </a:ext>
            </a:extLst>
          </p:cNvPr>
          <p:cNvSpPr/>
          <p:nvPr/>
        </p:nvSpPr>
        <p:spPr>
          <a:xfrm>
            <a:off x="1839848" y="3546276"/>
            <a:ext cx="2290465" cy="1024646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325B1723-45BF-1213-74EC-613981BB3369}"/>
              </a:ext>
            </a:extLst>
          </p:cNvPr>
          <p:cNvSpPr/>
          <p:nvPr/>
        </p:nvSpPr>
        <p:spPr>
          <a:xfrm>
            <a:off x="6158918" y="1688138"/>
            <a:ext cx="2290465" cy="1024646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9CDB5C13-6191-080E-4C25-D481C1B7F43F}"/>
              </a:ext>
            </a:extLst>
          </p:cNvPr>
          <p:cNvSpPr/>
          <p:nvPr/>
        </p:nvSpPr>
        <p:spPr>
          <a:xfrm>
            <a:off x="3426767" y="1684074"/>
            <a:ext cx="2290465" cy="1024646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F8938F91-69D1-7B3B-91D9-94BE69E7B5F8}"/>
              </a:ext>
            </a:extLst>
          </p:cNvPr>
          <p:cNvSpPr/>
          <p:nvPr/>
        </p:nvSpPr>
        <p:spPr>
          <a:xfrm>
            <a:off x="694616" y="1688138"/>
            <a:ext cx="2290465" cy="1024646"/>
          </a:xfrm>
          <a:prstGeom prst="roundRect">
            <a:avLst>
              <a:gd name="adj" fmla="val 2600"/>
            </a:avLst>
          </a:prstGeom>
          <a:solidFill>
            <a:srgbClr val="F0DEDC"/>
          </a:solidFill>
          <a:ln w="4763">
            <a:solidFill>
              <a:srgbClr val="C7A8A8"/>
            </a:solidFill>
            <a:prstDash val="solid"/>
          </a:ln>
          <a:effectLst>
            <a:outerShdw dist="1778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" name="Text 0"/>
          <p:cNvSpPr/>
          <p:nvPr/>
        </p:nvSpPr>
        <p:spPr>
          <a:xfrm>
            <a:off x="-1" y="379922"/>
            <a:ext cx="9144000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Что сделано</a:t>
            </a: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?</a:t>
            </a:r>
            <a:endParaRPr lang="en-US" sz="3200" dirty="0">
              <a:solidFill>
                <a:srgbClr val="4B6981"/>
              </a:solidFill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62667" y="1289771"/>
            <a:ext cx="354360" cy="35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4615" y="1776152"/>
            <a:ext cx="22904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Структура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694616" y="2023520"/>
            <a:ext cx="2290465" cy="67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Разработана DDL-</a:t>
            </a: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структура</a:t>
            </a:r>
            <a:endParaRPr lang="en-US" sz="1200" dirty="0">
              <a:solidFill>
                <a:srgbClr val="4B6981"/>
              </a:solidFill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94819" y="1293319"/>
            <a:ext cx="354360" cy="354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26766" y="1776152"/>
            <a:ext cx="229046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Данные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8" name="Text 4"/>
          <p:cNvSpPr/>
          <p:nvPr/>
        </p:nvSpPr>
        <p:spPr>
          <a:xfrm>
            <a:off x="3426768" y="1963936"/>
            <a:ext cx="2290466" cy="734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en-US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Наполнена тестовыми данными</a:t>
            </a:r>
            <a:endParaRPr lang="en-US" sz="1200" dirty="0">
              <a:solidFill>
                <a:srgbClr val="4B6981"/>
              </a:solidFill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81736" y="3167991"/>
            <a:ext cx="354360" cy="3543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58917" y="1776577"/>
            <a:ext cx="229046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ru-RU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Запросы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11" name="Text 6"/>
          <p:cNvSpPr/>
          <p:nvPr/>
        </p:nvSpPr>
        <p:spPr>
          <a:xfrm>
            <a:off x="6180237" y="2023520"/>
            <a:ext cx="2290465" cy="675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Созданы </a:t>
            </a:r>
            <a:r>
              <a:rPr lang="en-US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SELECT-</a:t>
            </a: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запросы</a:t>
            </a:r>
            <a:endParaRPr lang="en-US" sz="1200" dirty="0">
              <a:solidFill>
                <a:srgbClr val="4B6981"/>
              </a:solidFill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26973" y="1289771"/>
            <a:ext cx="354360" cy="35436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839848" y="3631089"/>
            <a:ext cx="22904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ru-RU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Улучшения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14" name="Text 8"/>
          <p:cNvSpPr/>
          <p:nvPr/>
        </p:nvSpPr>
        <p:spPr>
          <a:xfrm>
            <a:off x="1839848" y="3881413"/>
            <a:ext cx="2290465" cy="689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Написаны представления и версионные триггеры</a:t>
            </a:r>
            <a:endParaRPr lang="en-US" sz="1200" dirty="0">
              <a:solidFill>
                <a:srgbClr val="4B6981"/>
              </a:solidFill>
            </a:endParaRPr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07901" y="3170301"/>
            <a:ext cx="354360" cy="35436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013683" y="3634723"/>
            <a:ext cx="22904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Тестирование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17" name="Text 10"/>
          <p:cNvSpPr/>
          <p:nvPr/>
        </p:nvSpPr>
        <p:spPr>
          <a:xfrm>
            <a:off x="5013684" y="3856179"/>
            <a:ext cx="2290464" cy="714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50"/>
              </a:lnSpc>
              <a:buNone/>
            </a:pP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Выполнена проверка на </a:t>
            </a:r>
            <a:r>
              <a:rPr lang="en-US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Python</a:t>
            </a:r>
            <a:endParaRPr lang="en-US" sz="1200" dirty="0">
              <a:solidFill>
                <a:srgbClr val="4B698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">
            <a:extLst>
              <a:ext uri="{FF2B5EF4-FFF2-40B4-BE49-F238E27FC236}">
                <a16:creationId xmlns:a16="http://schemas.microsoft.com/office/drawing/2014/main" id="{7FF8310C-8749-71F5-7F0E-FC5D430E70C8}"/>
              </a:ext>
            </a:extLst>
          </p:cNvPr>
          <p:cNvSpPr/>
          <p:nvPr/>
        </p:nvSpPr>
        <p:spPr>
          <a:xfrm>
            <a:off x="4388158" y="3224193"/>
            <a:ext cx="496119" cy="878979"/>
          </a:xfrm>
          <a:prstGeom prst="roundRect">
            <a:avLst>
              <a:gd name="adj" fmla="val 360048"/>
            </a:avLst>
          </a:prstGeom>
          <a:solidFill>
            <a:srgbClr val="E1C2C2">
              <a:alpha val="50000"/>
            </a:srgbClr>
          </a:solidFill>
          <a:ln w="4763">
            <a:solidFill>
              <a:srgbClr val="C7A8A8"/>
            </a:solidFill>
            <a:prstDash val="solid"/>
          </a:ln>
          <a:effectLst>
            <a:outerShdw dist="1524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3771900" cy="5143500"/>
          </a:xfrm>
          <a:prstGeom prst="rect">
            <a:avLst/>
          </a:prstGeom>
          <a:solidFill>
            <a:srgbClr val="F0DEDC"/>
          </a:solidFill>
          <a:ln/>
        </p:spPr>
        <p:txBody>
          <a:bodyPr/>
          <a:lstStyle/>
          <a:p>
            <a:endParaRPr lang="ru-RU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11" y="588764"/>
            <a:ext cx="2974479" cy="39659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71900" y="992333"/>
            <a:ext cx="5372099" cy="487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50"/>
              </a:lnSpc>
              <a:buNone/>
            </a:pPr>
            <a:r>
              <a:rPr lang="ru-RU" sz="3200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Заключение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388158" y="2237780"/>
            <a:ext cx="496119" cy="878979"/>
          </a:xfrm>
          <a:prstGeom prst="roundRect">
            <a:avLst>
              <a:gd name="adj" fmla="val 360048"/>
            </a:avLst>
          </a:prstGeom>
          <a:solidFill>
            <a:srgbClr val="E1C2C2">
              <a:alpha val="50000"/>
            </a:srgbClr>
          </a:solidFill>
          <a:ln w="4763">
            <a:solidFill>
              <a:srgbClr val="C7A8A8"/>
            </a:solidFill>
            <a:prstDash val="solid"/>
          </a:ln>
          <a:effectLst>
            <a:outerShdw dist="15240" dir="2700000" algn="bl" rotWithShape="0">
              <a:srgbClr val="C7A8A8">
                <a:alpha val="10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6" name="Text 3"/>
          <p:cNvSpPr/>
          <p:nvPr/>
        </p:nvSpPr>
        <p:spPr>
          <a:xfrm>
            <a:off x="4543162" y="2555603"/>
            <a:ext cx="186035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1</a:t>
            </a:r>
            <a:endParaRPr lang="en-US" sz="1450" b="1" dirty="0">
              <a:solidFill>
                <a:srgbClr val="4B698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4992772" y="2328936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Достигнуто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4992772" y="2620715"/>
            <a:ext cx="4151228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Полноценная БД с основными таблицами, версионирование студентов, представления, 10 аналитических запросов и </a:t>
            </a: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тесты</a:t>
            </a:r>
            <a:endParaRPr lang="en-US" sz="1200" dirty="0">
              <a:solidFill>
                <a:srgbClr val="4B698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4543161" y="3547410"/>
            <a:ext cx="186035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2</a:t>
            </a:r>
            <a:endParaRPr lang="en-US" sz="1450" b="1" dirty="0">
              <a:solidFill>
                <a:srgbClr val="4B6981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4992772" y="3367429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b="1" dirty="0">
                <a:solidFill>
                  <a:srgbClr val="4B6981"/>
                </a:solidFill>
                <a:latin typeface="Calibri" panose="020F0502020204030204" pitchFamily="34" charset="0"/>
                <a:ea typeface="Playfair Display Semi Bold" pitchFamily="34" charset="-122"/>
                <a:cs typeface="Calibri" panose="020F0502020204030204" pitchFamily="34" charset="0"/>
              </a:rPr>
              <a:t>Применение</a:t>
            </a:r>
            <a:endParaRPr lang="en-US" b="1" dirty="0">
              <a:solidFill>
                <a:srgbClr val="4B6981"/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4992772" y="3663681"/>
            <a:ext cx="4151228" cy="590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1450"/>
              </a:lnSpc>
              <a:buNone/>
            </a:pP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Систему можно применять в учебных заведениях, в том числе</a:t>
            </a:r>
          </a:p>
          <a:p>
            <a:pPr marL="0" indent="0">
              <a:lnSpc>
                <a:spcPts val="1450"/>
              </a:lnSpc>
              <a:buNone/>
            </a:pPr>
            <a:r>
              <a:rPr lang="ru-RU" sz="1200" dirty="0">
                <a:solidFill>
                  <a:srgbClr val="4B6981"/>
                </a:solidFill>
                <a:latin typeface="Calibri" panose="020F0502020204030204" pitchFamily="34" charset="0"/>
                <a:ea typeface="Public Sans" pitchFamily="34" charset="-122"/>
                <a:cs typeface="Calibri" panose="020F0502020204030204" pitchFamily="34" charset="0"/>
              </a:rPr>
              <a:t>на платформах для онлайн обучения</a:t>
            </a:r>
            <a:endParaRPr lang="en-US" sz="1200" dirty="0">
              <a:solidFill>
                <a:srgbClr val="4B698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136</Words>
  <Application>Microsoft Office PowerPoint</Application>
  <PresentationFormat>Экран (16:9)</PresentationFormat>
  <Paragraphs>37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Calibri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Сергей Прохоренко</cp:lastModifiedBy>
  <cp:revision>8</cp:revision>
  <dcterms:created xsi:type="dcterms:W3CDTF">2026-05-14T12:21:36Z</dcterms:created>
  <dcterms:modified xsi:type="dcterms:W3CDTF">2026-05-14T14:06:00Z</dcterms:modified>
</cp:coreProperties>
</file>