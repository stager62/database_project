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9" r:id="rId4"/>
    <p:sldId id="266" r:id="rId5"/>
    <p:sldId id="260" r:id="rId6"/>
    <p:sldId id="261" r:id="rId7"/>
    <p:sldId id="267" r:id="rId8"/>
    <p:sldId id="268" r:id="rId9"/>
    <p:sldId id="258" r:id="rId10"/>
    <p:sldId id="265" r:id="rId11"/>
  </p:sldIdLst>
  <p:sldSz cx="9144000" cy="5143500" type="screen16x9"/>
  <p:notesSz cx="51435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Сергей Прохоренко" initials="СП" lastIdx="1" clrIdx="0">
    <p:extLst>
      <p:ext uri="{19B8F6BF-5375-455C-9EA6-DF929625EA0E}">
        <p15:presenceInfo xmlns:p15="http://schemas.microsoft.com/office/powerpoint/2012/main" userId="ec9ca98068d2ddbe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B6981"/>
    <a:srgbClr val="F0DE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3" autoAdjust="0"/>
    <p:restoredTop sz="95845" autoAdjust="0"/>
  </p:normalViewPr>
  <p:slideViewPr>
    <p:cSldViewPr snapToGrid="0" snapToObjects="1">
      <p:cViewPr varScale="1">
        <p:scale>
          <a:sx n="127" d="100"/>
          <a:sy n="127" d="100"/>
        </p:scale>
        <p:origin x="620" y="6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38579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75BE2-9FAA-B304-7F6F-3B54E8771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CBCD96-CE3F-A03B-A35C-5BF456295F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34C1E8-8C0F-D245-8A5A-8F777B2D91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712956-FAD1-4F9F-7DC7-07A998957A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9665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7ACF2-FA2C-8781-E67E-D47876D47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F1D1D7-08A3-2C24-9FEB-7A7D8C21A1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2C05D8-3A99-1ED7-23FF-F46673B3FF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981D5E-E29E-3380-139E-43A81D29CC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8150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4BE8AA-08C5-4DAD-F8FE-BF3F7B7B8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4FB5F9-CBF9-39DB-758B-76AE3DF8D9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DD6769-D28D-DAD8-354B-B4A5408B00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5FF6F6-DDA4-4DB9-6A5E-EA4EEEAAD1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7793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AF6"/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AF6"/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AF6"/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AF6"/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AF6"/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AF6"/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AF6"/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AF6"/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AF6"/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AF6"/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0.sv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71900" cy="5143500"/>
          </a:xfrm>
          <a:prstGeom prst="rect">
            <a:avLst/>
          </a:prstGeom>
          <a:solidFill>
            <a:srgbClr val="F0DEDC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710" y="599405"/>
            <a:ext cx="2958480" cy="394468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771901" y="2073813"/>
            <a:ext cx="5372099" cy="995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450"/>
              </a:lnSpc>
              <a:buNone/>
            </a:pPr>
            <a:r>
              <a:rPr lang="ru-RU" sz="3200" dirty="0">
                <a:solidFill>
                  <a:srgbClr val="4B6981"/>
                </a:solidFill>
                <a:latin typeface="Calibri" panose="020F0502020204030204" pitchFamily="34" charset="0"/>
                <a:ea typeface="Playfair Display Semi Bold" pitchFamily="34" charset="-122"/>
                <a:cs typeface="Calibri" panose="020F0502020204030204" pitchFamily="34" charset="0"/>
              </a:rPr>
              <a:t>Создание базы данных для платформы онлайн-обучения</a:t>
            </a:r>
            <a:endParaRPr lang="en-US" sz="3200" dirty="0">
              <a:solidFill>
                <a:srgbClr val="4B6981"/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3771900" y="4689872"/>
            <a:ext cx="537209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ru-RU" sz="1100" dirty="0">
                <a:solidFill>
                  <a:srgbClr val="4B6981"/>
                </a:solidFill>
                <a:latin typeface="Calibri" panose="020F0502020204030204" pitchFamily="34" charset="0"/>
                <a:ea typeface="Public Sans" pitchFamily="34" charset="-122"/>
                <a:cs typeface="Calibri" panose="020F0502020204030204" pitchFamily="34" charset="0"/>
              </a:rPr>
              <a:t>Прохоренко Сергей Андреевич</a:t>
            </a:r>
          </a:p>
          <a:p>
            <a:pPr marL="0" indent="0" algn="ctr">
              <a:lnSpc>
                <a:spcPts val="1750"/>
              </a:lnSpc>
              <a:buNone/>
            </a:pPr>
            <a:r>
              <a:rPr lang="en-US" sz="1100" dirty="0">
                <a:solidFill>
                  <a:srgbClr val="4B6981"/>
                </a:solidFill>
                <a:latin typeface="Calibri" panose="020F0502020204030204" pitchFamily="34" charset="0"/>
                <a:ea typeface="Public Sans" pitchFamily="34" charset="-122"/>
                <a:cs typeface="Calibri" panose="020F0502020204030204" pitchFamily="34" charset="0"/>
              </a:rPr>
              <a:t>ИРНИТУ, ИСИ</a:t>
            </a:r>
            <a:r>
              <a:rPr lang="ru-RU" sz="1100" dirty="0">
                <a:solidFill>
                  <a:srgbClr val="4B6981"/>
                </a:solidFill>
                <a:latin typeface="Calibri" panose="020F0502020204030204" pitchFamily="34" charset="0"/>
                <a:ea typeface="Public Sans" pitchFamily="34" charset="-122"/>
                <a:cs typeface="Calibri" panose="020F0502020204030204" pitchFamily="34" charset="0"/>
              </a:rPr>
              <a:t>б</a:t>
            </a:r>
            <a:r>
              <a:rPr lang="en-US" sz="1100" dirty="0">
                <a:solidFill>
                  <a:srgbClr val="4B6981"/>
                </a:solidFill>
                <a:latin typeface="Calibri" panose="020F0502020204030204" pitchFamily="34" charset="0"/>
                <a:ea typeface="Public Sans" pitchFamily="34" charset="-122"/>
                <a:cs typeface="Calibri" panose="020F0502020204030204" pitchFamily="34" charset="0"/>
              </a:rPr>
              <a:t>-24-1</a:t>
            </a:r>
            <a:r>
              <a:rPr lang="ru-RU" sz="1100" dirty="0">
                <a:solidFill>
                  <a:srgbClr val="4B6981"/>
                </a:solidFill>
                <a:latin typeface="Calibri" panose="020F0502020204030204" pitchFamily="34" charset="0"/>
                <a:ea typeface="Public Sans" pitchFamily="34" charset="-122"/>
                <a:cs typeface="Calibri" panose="020F0502020204030204" pitchFamily="34" charset="0"/>
              </a:rPr>
              <a:t>, 2026 г.</a:t>
            </a:r>
            <a:endParaRPr lang="en-US" sz="1100" dirty="0">
              <a:solidFill>
                <a:srgbClr val="4B698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2">
            <a:extLst>
              <a:ext uri="{FF2B5EF4-FFF2-40B4-BE49-F238E27FC236}">
                <a16:creationId xmlns:a16="http://schemas.microsoft.com/office/drawing/2014/main" id="{7786C684-1C59-448D-211C-8EE83BEABED1}"/>
              </a:ext>
            </a:extLst>
          </p:cNvPr>
          <p:cNvSpPr/>
          <p:nvPr/>
        </p:nvSpPr>
        <p:spPr>
          <a:xfrm>
            <a:off x="6659092" y="2165560"/>
            <a:ext cx="2290465" cy="2414067"/>
          </a:xfrm>
          <a:prstGeom prst="roundRect">
            <a:avLst>
              <a:gd name="adj" fmla="val 2600"/>
            </a:avLst>
          </a:prstGeom>
          <a:solidFill>
            <a:srgbClr val="F0DEDC"/>
          </a:solidFill>
          <a:ln w="4763">
            <a:solidFill>
              <a:srgbClr val="C7A8A8"/>
            </a:solidFill>
            <a:prstDash val="solid"/>
          </a:ln>
          <a:effectLst>
            <a:outerShdw dist="17780" dir="2700000" algn="bl" rotWithShape="0">
              <a:srgbClr val="C7A8A8">
                <a:alpha val="10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" name="Shape 0"/>
          <p:cNvSpPr/>
          <p:nvPr/>
        </p:nvSpPr>
        <p:spPr>
          <a:xfrm>
            <a:off x="0" y="3162"/>
            <a:ext cx="3771900" cy="5143500"/>
          </a:xfrm>
          <a:prstGeom prst="rect">
            <a:avLst/>
          </a:prstGeom>
          <a:solidFill>
            <a:srgbClr val="F0DEDC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710" y="599405"/>
            <a:ext cx="2958480" cy="394468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771900" y="799057"/>
            <a:ext cx="5372100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50"/>
              </a:lnSpc>
              <a:buNone/>
            </a:pPr>
            <a:r>
              <a:rPr lang="en-US" sz="3200" dirty="0">
                <a:solidFill>
                  <a:srgbClr val="4B6981"/>
                </a:solidFill>
                <a:latin typeface="Calibri" panose="020F0502020204030204" pitchFamily="34" charset="0"/>
                <a:ea typeface="Playfair Display Semi Bold" pitchFamily="34" charset="-122"/>
                <a:cs typeface="Calibri" panose="020F0502020204030204" pitchFamily="34" charset="0"/>
              </a:rPr>
              <a:t>Актуальность и цель</a:t>
            </a:r>
            <a:endParaRPr lang="en-US" sz="3200" dirty="0">
              <a:solidFill>
                <a:srgbClr val="4B6981"/>
              </a:solidFill>
            </a:endParaRPr>
          </a:p>
        </p:txBody>
      </p:sp>
      <p:sp>
        <p:nvSpPr>
          <p:cNvPr id="5" name="Shape 2"/>
          <p:cNvSpPr/>
          <p:nvPr/>
        </p:nvSpPr>
        <p:spPr>
          <a:xfrm>
            <a:off x="3961917" y="2165560"/>
            <a:ext cx="2290465" cy="2414067"/>
          </a:xfrm>
          <a:prstGeom prst="roundRect">
            <a:avLst>
              <a:gd name="adj" fmla="val 2600"/>
            </a:avLst>
          </a:prstGeom>
          <a:solidFill>
            <a:srgbClr val="F0DEDC"/>
          </a:solidFill>
          <a:ln w="4763">
            <a:solidFill>
              <a:srgbClr val="C7A8A8"/>
            </a:solidFill>
            <a:prstDash val="solid"/>
          </a:ln>
          <a:effectLst>
            <a:outerShdw dist="17780" dir="2700000" algn="bl" rotWithShape="0">
              <a:srgbClr val="C7A8A8">
                <a:alpha val="10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6" name="Text 3"/>
          <p:cNvSpPr/>
          <p:nvPr/>
        </p:nvSpPr>
        <p:spPr>
          <a:xfrm>
            <a:off x="3961917" y="2348532"/>
            <a:ext cx="22904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b="1" dirty="0">
                <a:solidFill>
                  <a:srgbClr val="4B6981"/>
                </a:solidFill>
                <a:latin typeface="Calibri" panose="020F0502020204030204" pitchFamily="34" charset="0"/>
                <a:ea typeface="Playfair Display Semi Bold" pitchFamily="34" charset="-122"/>
                <a:cs typeface="Calibri" panose="020F0502020204030204" pitchFamily="34" charset="0"/>
              </a:rPr>
              <a:t>Актуальность</a:t>
            </a:r>
            <a:endParaRPr lang="en-US" b="1" dirty="0">
              <a:solidFill>
                <a:srgbClr val="4B6981"/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3961917" y="2752960"/>
            <a:ext cx="2290465" cy="1826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ru-RU" sz="1100" dirty="0">
                <a:solidFill>
                  <a:srgbClr val="4B6981"/>
                </a:solidFill>
              </a:rPr>
              <a:t>Автоматизация учёта студентов, курсов, заданий и оценок необходима для точного контроля успеваемости и отчётности</a:t>
            </a:r>
          </a:p>
        </p:txBody>
      </p:sp>
      <p:sp>
        <p:nvSpPr>
          <p:cNvPr id="9" name="Text 6"/>
          <p:cNvSpPr/>
          <p:nvPr/>
        </p:nvSpPr>
        <p:spPr>
          <a:xfrm>
            <a:off x="6659091" y="2347253"/>
            <a:ext cx="22904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b="1" dirty="0">
                <a:solidFill>
                  <a:srgbClr val="4B6981"/>
                </a:solidFill>
                <a:latin typeface="Calibri" panose="020F0502020204030204" pitchFamily="34" charset="0"/>
                <a:ea typeface="Playfair Display Semi Bold" pitchFamily="34" charset="-122"/>
                <a:cs typeface="Calibri" panose="020F0502020204030204" pitchFamily="34" charset="0"/>
              </a:rPr>
              <a:t>Цель</a:t>
            </a:r>
            <a:endParaRPr lang="en-US" b="1" dirty="0">
              <a:solidFill>
                <a:srgbClr val="4B6981"/>
              </a:solidFill>
            </a:endParaRPr>
          </a:p>
        </p:txBody>
      </p:sp>
      <p:sp>
        <p:nvSpPr>
          <p:cNvPr id="10" name="Text 7"/>
          <p:cNvSpPr/>
          <p:nvPr/>
        </p:nvSpPr>
        <p:spPr>
          <a:xfrm>
            <a:off x="6659092" y="2752960"/>
            <a:ext cx="2290465" cy="1826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100" dirty="0">
                <a:solidFill>
                  <a:srgbClr val="4B6981"/>
                </a:solidFill>
                <a:latin typeface="Calibri" panose="020F0502020204030204" pitchFamily="34" charset="0"/>
                <a:ea typeface="Public Sans" pitchFamily="34" charset="-122"/>
                <a:cs typeface="Calibri" panose="020F0502020204030204" pitchFamily="34" charset="0"/>
              </a:rPr>
              <a:t>Спроектировать БД, которая хранит преподавателей, студентов, курсы, задания, записи и сдачи</a:t>
            </a:r>
            <a:endParaRPr lang="en-US" sz="1100" dirty="0">
              <a:solidFill>
                <a:srgbClr val="4B698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-1" y="875498"/>
            <a:ext cx="9144001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50"/>
              </a:lnSpc>
              <a:buNone/>
            </a:pPr>
            <a:r>
              <a:rPr lang="ru-RU" sz="3200" dirty="0">
                <a:solidFill>
                  <a:srgbClr val="4B6981"/>
                </a:solidFill>
                <a:latin typeface="Calibri" panose="020F0502020204030204" pitchFamily="34" charset="0"/>
                <a:ea typeface="Playfair Display Semi Bold" pitchFamily="34" charset="-122"/>
                <a:cs typeface="Calibri" panose="020F0502020204030204" pitchFamily="34" charset="0"/>
              </a:rPr>
              <a:t>Схемы </a:t>
            </a:r>
            <a:r>
              <a:rPr lang="en-US" sz="3200" dirty="0">
                <a:solidFill>
                  <a:srgbClr val="4B6981"/>
                </a:solidFill>
                <a:latin typeface="Calibri" panose="020F0502020204030204" pitchFamily="34" charset="0"/>
                <a:ea typeface="Playfair Display Semi Bold" pitchFamily="34" charset="-122"/>
                <a:cs typeface="Calibri" panose="020F0502020204030204" pitchFamily="34" charset="0"/>
              </a:rPr>
              <a:t>базы данных</a:t>
            </a:r>
            <a:endParaRPr lang="en-US" sz="320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A8C4435-C0E4-EBBD-9ED9-6A62C918E75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02" t="1480" r="980" b="2040"/>
          <a:stretch>
            <a:fillRect/>
          </a:stretch>
        </p:blipFill>
        <p:spPr>
          <a:xfrm>
            <a:off x="138219" y="2210009"/>
            <a:ext cx="3409785" cy="199522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D2F96AA-2AA1-35A9-5937-9E481D889C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3011" y="2210009"/>
            <a:ext cx="5262770" cy="199522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5123E-E37F-E62A-B69A-BC3234AA6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71A6200-65F2-EB8A-BBBD-9692426DAB8A}"/>
              </a:ext>
            </a:extLst>
          </p:cNvPr>
          <p:cNvSpPr/>
          <p:nvPr/>
        </p:nvSpPr>
        <p:spPr>
          <a:xfrm>
            <a:off x="0" y="878979"/>
            <a:ext cx="9143999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00"/>
              </a:lnSpc>
              <a:buNone/>
            </a:pPr>
            <a:r>
              <a:rPr lang="ru-RU" sz="3200" dirty="0">
                <a:solidFill>
                  <a:srgbClr val="4B6981"/>
                </a:solidFill>
                <a:latin typeface="Calibri" panose="020F0502020204030204" pitchFamily="34" charset="0"/>
                <a:ea typeface="Playfair Display Semi Bold" pitchFamily="34" charset="-122"/>
                <a:cs typeface="Calibri" panose="020F0502020204030204" pitchFamily="34" charset="0"/>
              </a:rPr>
              <a:t>Создание и заполнение базы данных</a:t>
            </a:r>
            <a:endParaRPr lang="en-US" sz="3200" dirty="0"/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FC2AFF60-B6DC-3FBE-3B6E-27656D7EA1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886" y="2383286"/>
            <a:ext cx="2903973" cy="109899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D51F2E72-E80B-6DC0-531D-BEF880C205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2581" y="2383286"/>
            <a:ext cx="5198432" cy="109899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148466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" y="667829"/>
            <a:ext cx="9143999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00"/>
              </a:lnSpc>
              <a:buNone/>
            </a:pPr>
            <a:r>
              <a:rPr lang="ru-RU" sz="3200" dirty="0">
                <a:solidFill>
                  <a:srgbClr val="4B6981"/>
                </a:solidFill>
                <a:latin typeface="Calibri" panose="020F0502020204030204" pitchFamily="34" charset="0"/>
                <a:ea typeface="Playfair Display Semi Bold" pitchFamily="34" charset="-122"/>
                <a:cs typeface="Calibri" panose="020F0502020204030204" pitchFamily="34" charset="0"/>
              </a:rPr>
              <a:t>Запросы к базе данных</a:t>
            </a:r>
            <a:endParaRPr lang="en-US" sz="3200" dirty="0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CCEC37AE-3858-D7BC-6997-56EB3058E7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663" y="1987696"/>
            <a:ext cx="4034925" cy="182184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2A41942-15C2-46D1-32E3-318A1D3052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6925" y="1681889"/>
            <a:ext cx="3559392" cy="243346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837782"/>
            <a:ext cx="9144000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200"/>
              </a:lnSpc>
              <a:buNone/>
            </a:pPr>
            <a:r>
              <a:rPr lang="ru-RU" sz="3200" dirty="0">
                <a:solidFill>
                  <a:srgbClr val="4B6981"/>
                </a:solidFill>
                <a:latin typeface="Calibri" panose="020F0502020204030204" pitchFamily="34" charset="0"/>
                <a:ea typeface="Playfair Display Semi Bold" pitchFamily="34" charset="-122"/>
                <a:cs typeface="Calibri" panose="020F0502020204030204" pitchFamily="34" charset="0"/>
              </a:rPr>
              <a:t>Представления</a:t>
            </a:r>
            <a:endParaRPr lang="en-US" sz="3200" dirty="0"/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DA708DCD-3638-EF67-4B3A-9DF04125F1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707" y="2137288"/>
            <a:ext cx="4319295" cy="156324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5E6DAA1-FA2C-9E49-B2BA-741010D86C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4427" y="1979752"/>
            <a:ext cx="3156866" cy="187831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BDE11-AEB5-81BA-E218-C56EB744A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1BCAA66-CFB0-C0FA-0928-38B26FB6AFB1}"/>
              </a:ext>
            </a:extLst>
          </p:cNvPr>
          <p:cNvSpPr/>
          <p:nvPr/>
        </p:nvSpPr>
        <p:spPr>
          <a:xfrm>
            <a:off x="0" y="98590"/>
            <a:ext cx="9144000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200"/>
              </a:lnSpc>
              <a:buNone/>
            </a:pPr>
            <a:r>
              <a:rPr lang="ru-RU" sz="3200" dirty="0">
                <a:solidFill>
                  <a:srgbClr val="4B6981"/>
                </a:solidFill>
                <a:latin typeface="Calibri" panose="020F0502020204030204" pitchFamily="34" charset="0"/>
                <a:ea typeface="Playfair Display Semi Bold" pitchFamily="34" charset="-122"/>
                <a:cs typeface="Calibri" panose="020F0502020204030204" pitchFamily="34" charset="0"/>
              </a:rPr>
              <a:t>Версионные триггеры</a:t>
            </a:r>
            <a:endParaRPr lang="en-US" sz="3200" dirty="0"/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4A4045C9-6963-D5D1-DE66-9A267F64F9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842166"/>
            <a:ext cx="3113682" cy="285060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D3A04438-75C6-B67F-26BD-821BDCCCFB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8301" y="603967"/>
            <a:ext cx="1944129" cy="327400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827E647-3F8D-DE25-3F25-29DFF29FB9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9762" y="4036916"/>
            <a:ext cx="7164475" cy="100733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609869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79908-69C2-70D2-A40C-AC7DEB47E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AAED980-F4BA-1F47-F3E2-B4F3863C1EE8}"/>
              </a:ext>
            </a:extLst>
          </p:cNvPr>
          <p:cNvSpPr/>
          <p:nvPr/>
        </p:nvSpPr>
        <p:spPr>
          <a:xfrm>
            <a:off x="0" y="194688"/>
            <a:ext cx="9144000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200"/>
              </a:lnSpc>
              <a:buNone/>
            </a:pPr>
            <a:r>
              <a:rPr lang="ru-RU" sz="3200" dirty="0">
                <a:solidFill>
                  <a:srgbClr val="4B6981"/>
                </a:solidFill>
                <a:latin typeface="Calibri" panose="020F0502020204030204" pitchFamily="34" charset="0"/>
                <a:ea typeface="Playfair Display Semi Bold" pitchFamily="34" charset="-122"/>
                <a:cs typeface="Calibri" panose="020F0502020204030204" pitchFamily="34" charset="0"/>
              </a:rPr>
              <a:t>Тестирование</a:t>
            </a:r>
            <a:endParaRPr lang="en-US" sz="32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5C94657-C217-9FC9-7253-1E0D12C928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562" y="1587242"/>
            <a:ext cx="8656876" cy="118107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858EC4A-3EAA-027E-15E9-696E6B798A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8105" y="3398978"/>
            <a:ext cx="4307790" cy="60026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510990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">
            <a:extLst>
              <a:ext uri="{FF2B5EF4-FFF2-40B4-BE49-F238E27FC236}">
                <a16:creationId xmlns:a16="http://schemas.microsoft.com/office/drawing/2014/main" id="{9657174A-AFEA-C2BE-FA71-C9AE78755329}"/>
              </a:ext>
            </a:extLst>
          </p:cNvPr>
          <p:cNvSpPr/>
          <p:nvPr/>
        </p:nvSpPr>
        <p:spPr>
          <a:xfrm>
            <a:off x="5013684" y="3546276"/>
            <a:ext cx="2290465" cy="1024646"/>
          </a:xfrm>
          <a:prstGeom prst="roundRect">
            <a:avLst>
              <a:gd name="adj" fmla="val 2600"/>
            </a:avLst>
          </a:prstGeom>
          <a:solidFill>
            <a:srgbClr val="F0DEDC"/>
          </a:solidFill>
          <a:ln w="4763">
            <a:solidFill>
              <a:srgbClr val="C7A8A8"/>
            </a:solidFill>
            <a:prstDash val="solid"/>
          </a:ln>
          <a:effectLst>
            <a:outerShdw dist="17780" dir="2700000" algn="bl" rotWithShape="0">
              <a:srgbClr val="C7A8A8">
                <a:alpha val="10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3" name="Shape 2">
            <a:extLst>
              <a:ext uri="{FF2B5EF4-FFF2-40B4-BE49-F238E27FC236}">
                <a16:creationId xmlns:a16="http://schemas.microsoft.com/office/drawing/2014/main" id="{690B3531-C6AA-B0EF-DBC2-16B32C922A1E}"/>
              </a:ext>
            </a:extLst>
          </p:cNvPr>
          <p:cNvSpPr/>
          <p:nvPr/>
        </p:nvSpPr>
        <p:spPr>
          <a:xfrm>
            <a:off x="1839848" y="3546276"/>
            <a:ext cx="2290465" cy="1024646"/>
          </a:xfrm>
          <a:prstGeom prst="roundRect">
            <a:avLst>
              <a:gd name="adj" fmla="val 2600"/>
            </a:avLst>
          </a:prstGeom>
          <a:solidFill>
            <a:srgbClr val="F0DEDC"/>
          </a:solidFill>
          <a:ln w="4763">
            <a:solidFill>
              <a:srgbClr val="C7A8A8"/>
            </a:solidFill>
            <a:prstDash val="solid"/>
          </a:ln>
          <a:effectLst>
            <a:outerShdw dist="17780" dir="2700000" algn="bl" rotWithShape="0">
              <a:srgbClr val="C7A8A8">
                <a:alpha val="10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1" name="Shape 2">
            <a:extLst>
              <a:ext uri="{FF2B5EF4-FFF2-40B4-BE49-F238E27FC236}">
                <a16:creationId xmlns:a16="http://schemas.microsoft.com/office/drawing/2014/main" id="{325B1723-45BF-1213-74EC-613981BB3369}"/>
              </a:ext>
            </a:extLst>
          </p:cNvPr>
          <p:cNvSpPr/>
          <p:nvPr/>
        </p:nvSpPr>
        <p:spPr>
          <a:xfrm>
            <a:off x="6158918" y="1688138"/>
            <a:ext cx="2290465" cy="1024646"/>
          </a:xfrm>
          <a:prstGeom prst="roundRect">
            <a:avLst>
              <a:gd name="adj" fmla="val 2600"/>
            </a:avLst>
          </a:prstGeom>
          <a:solidFill>
            <a:srgbClr val="F0DEDC"/>
          </a:solidFill>
          <a:ln w="4763">
            <a:solidFill>
              <a:srgbClr val="C7A8A8"/>
            </a:solidFill>
            <a:prstDash val="solid"/>
          </a:ln>
          <a:effectLst>
            <a:outerShdw dist="17780" dir="2700000" algn="bl" rotWithShape="0">
              <a:srgbClr val="C7A8A8">
                <a:alpha val="10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0" name="Shape 2">
            <a:extLst>
              <a:ext uri="{FF2B5EF4-FFF2-40B4-BE49-F238E27FC236}">
                <a16:creationId xmlns:a16="http://schemas.microsoft.com/office/drawing/2014/main" id="{9CDB5C13-6191-080E-4C25-D481C1B7F43F}"/>
              </a:ext>
            </a:extLst>
          </p:cNvPr>
          <p:cNvSpPr/>
          <p:nvPr/>
        </p:nvSpPr>
        <p:spPr>
          <a:xfrm>
            <a:off x="3426767" y="1684074"/>
            <a:ext cx="2290465" cy="1024646"/>
          </a:xfrm>
          <a:prstGeom prst="roundRect">
            <a:avLst>
              <a:gd name="adj" fmla="val 2600"/>
            </a:avLst>
          </a:prstGeom>
          <a:solidFill>
            <a:srgbClr val="F0DEDC"/>
          </a:solidFill>
          <a:ln w="4763">
            <a:solidFill>
              <a:srgbClr val="C7A8A8"/>
            </a:solidFill>
            <a:prstDash val="solid"/>
          </a:ln>
          <a:effectLst>
            <a:outerShdw dist="17780" dir="2700000" algn="bl" rotWithShape="0">
              <a:srgbClr val="C7A8A8">
                <a:alpha val="10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8" name="Shape 2">
            <a:extLst>
              <a:ext uri="{FF2B5EF4-FFF2-40B4-BE49-F238E27FC236}">
                <a16:creationId xmlns:a16="http://schemas.microsoft.com/office/drawing/2014/main" id="{F8938F91-69D1-7B3B-91D9-94BE69E7B5F8}"/>
              </a:ext>
            </a:extLst>
          </p:cNvPr>
          <p:cNvSpPr/>
          <p:nvPr/>
        </p:nvSpPr>
        <p:spPr>
          <a:xfrm>
            <a:off x="694616" y="1688138"/>
            <a:ext cx="2290465" cy="1024646"/>
          </a:xfrm>
          <a:prstGeom prst="roundRect">
            <a:avLst>
              <a:gd name="adj" fmla="val 2600"/>
            </a:avLst>
          </a:prstGeom>
          <a:solidFill>
            <a:srgbClr val="F0DEDC"/>
          </a:solidFill>
          <a:ln w="4763">
            <a:solidFill>
              <a:srgbClr val="C7A8A8"/>
            </a:solidFill>
            <a:prstDash val="solid"/>
          </a:ln>
          <a:effectLst>
            <a:outerShdw dist="17780" dir="2700000" algn="bl" rotWithShape="0">
              <a:srgbClr val="C7A8A8">
                <a:alpha val="10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" name="Text 0"/>
          <p:cNvSpPr/>
          <p:nvPr/>
        </p:nvSpPr>
        <p:spPr>
          <a:xfrm>
            <a:off x="-1" y="379922"/>
            <a:ext cx="9144000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50"/>
              </a:lnSpc>
              <a:buNone/>
            </a:pPr>
            <a:r>
              <a:rPr lang="en-US" sz="3200" dirty="0">
                <a:solidFill>
                  <a:srgbClr val="4B6981"/>
                </a:solidFill>
                <a:latin typeface="Calibri" panose="020F0502020204030204" pitchFamily="34" charset="0"/>
                <a:ea typeface="Playfair Display Semi Bold" pitchFamily="34" charset="-122"/>
                <a:cs typeface="Calibri" panose="020F0502020204030204" pitchFamily="34" charset="0"/>
              </a:rPr>
              <a:t>Что сделано</a:t>
            </a:r>
            <a:r>
              <a:rPr lang="ru-RU" sz="3200" dirty="0">
                <a:solidFill>
                  <a:srgbClr val="4B6981"/>
                </a:solidFill>
                <a:latin typeface="Calibri" panose="020F0502020204030204" pitchFamily="34" charset="0"/>
                <a:ea typeface="Playfair Display Semi Bold" pitchFamily="34" charset="-122"/>
                <a:cs typeface="Calibri" panose="020F0502020204030204" pitchFamily="34" charset="0"/>
              </a:rPr>
              <a:t>?</a:t>
            </a:r>
            <a:endParaRPr lang="en-US" sz="3200" dirty="0">
              <a:solidFill>
                <a:srgbClr val="4B6981"/>
              </a:solidFill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62667" y="1289771"/>
            <a:ext cx="354360" cy="35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4615" y="1776152"/>
            <a:ext cx="22904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b="1" dirty="0">
                <a:solidFill>
                  <a:srgbClr val="4B6981"/>
                </a:solidFill>
                <a:latin typeface="Calibri" panose="020F0502020204030204" pitchFamily="34" charset="0"/>
                <a:ea typeface="Playfair Display Semi Bold" pitchFamily="34" charset="-122"/>
                <a:cs typeface="Calibri" panose="020F0502020204030204" pitchFamily="34" charset="0"/>
              </a:rPr>
              <a:t>Структура</a:t>
            </a:r>
            <a:endParaRPr lang="en-US" b="1" dirty="0">
              <a:solidFill>
                <a:srgbClr val="4B6981"/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694616" y="2023520"/>
            <a:ext cx="2290465" cy="67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200" dirty="0">
                <a:solidFill>
                  <a:srgbClr val="4B6981"/>
                </a:solidFill>
                <a:latin typeface="Calibri" panose="020F0502020204030204" pitchFamily="34" charset="0"/>
                <a:ea typeface="Public Sans" pitchFamily="34" charset="-122"/>
                <a:cs typeface="Calibri" panose="020F0502020204030204" pitchFamily="34" charset="0"/>
              </a:rPr>
              <a:t>Разработана DDL-</a:t>
            </a:r>
            <a:r>
              <a:rPr lang="ru-RU" sz="1200" dirty="0">
                <a:solidFill>
                  <a:srgbClr val="4B6981"/>
                </a:solidFill>
                <a:latin typeface="Calibri" panose="020F0502020204030204" pitchFamily="34" charset="0"/>
                <a:ea typeface="Public Sans" pitchFamily="34" charset="-122"/>
                <a:cs typeface="Calibri" panose="020F0502020204030204" pitchFamily="34" charset="0"/>
              </a:rPr>
              <a:t>структура</a:t>
            </a:r>
            <a:endParaRPr lang="en-US" sz="1200" dirty="0">
              <a:solidFill>
                <a:srgbClr val="4B6981"/>
              </a:solidFill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94819" y="1293319"/>
            <a:ext cx="354360" cy="3543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26766" y="1776152"/>
            <a:ext cx="229046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b="1" dirty="0">
                <a:solidFill>
                  <a:srgbClr val="4B6981"/>
                </a:solidFill>
                <a:latin typeface="Calibri" panose="020F0502020204030204" pitchFamily="34" charset="0"/>
                <a:ea typeface="Playfair Display Semi Bold" pitchFamily="34" charset="-122"/>
                <a:cs typeface="Calibri" panose="020F0502020204030204" pitchFamily="34" charset="0"/>
              </a:rPr>
              <a:t>Данные</a:t>
            </a:r>
            <a:endParaRPr lang="en-US" b="1" dirty="0">
              <a:solidFill>
                <a:srgbClr val="4B6981"/>
              </a:solidFill>
            </a:endParaRPr>
          </a:p>
        </p:txBody>
      </p:sp>
      <p:sp>
        <p:nvSpPr>
          <p:cNvPr id="8" name="Text 4"/>
          <p:cNvSpPr/>
          <p:nvPr/>
        </p:nvSpPr>
        <p:spPr>
          <a:xfrm>
            <a:off x="3426768" y="1997608"/>
            <a:ext cx="2290466" cy="7012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200" dirty="0">
                <a:solidFill>
                  <a:srgbClr val="4B6981"/>
                </a:solidFill>
                <a:latin typeface="Calibri" panose="020F0502020204030204" pitchFamily="34" charset="0"/>
                <a:ea typeface="Public Sans" pitchFamily="34" charset="-122"/>
                <a:cs typeface="Calibri" panose="020F0502020204030204" pitchFamily="34" charset="0"/>
              </a:rPr>
              <a:t>Наполнена тестовыми данными</a:t>
            </a:r>
            <a:endParaRPr lang="en-US" sz="1200" dirty="0">
              <a:solidFill>
                <a:srgbClr val="4B6981"/>
              </a:solidFill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81736" y="3167991"/>
            <a:ext cx="354360" cy="3543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158917" y="1776577"/>
            <a:ext cx="229046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ru-RU" b="1" dirty="0">
                <a:solidFill>
                  <a:srgbClr val="4B6981"/>
                </a:solidFill>
                <a:latin typeface="Calibri" panose="020F0502020204030204" pitchFamily="34" charset="0"/>
                <a:ea typeface="Playfair Display Semi Bold" pitchFamily="34" charset="-122"/>
                <a:cs typeface="Calibri" panose="020F0502020204030204" pitchFamily="34" charset="0"/>
              </a:rPr>
              <a:t>Запросы</a:t>
            </a:r>
            <a:endParaRPr lang="en-US" b="1" dirty="0">
              <a:solidFill>
                <a:srgbClr val="4B6981"/>
              </a:solidFill>
            </a:endParaRPr>
          </a:p>
        </p:txBody>
      </p:sp>
      <p:sp>
        <p:nvSpPr>
          <p:cNvPr id="11" name="Text 6"/>
          <p:cNvSpPr/>
          <p:nvPr/>
        </p:nvSpPr>
        <p:spPr>
          <a:xfrm>
            <a:off x="6180237" y="2023520"/>
            <a:ext cx="2290465" cy="675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50"/>
              </a:lnSpc>
              <a:buNone/>
            </a:pPr>
            <a:r>
              <a:rPr lang="ru-RU" sz="1200" dirty="0">
                <a:solidFill>
                  <a:srgbClr val="4B6981"/>
                </a:solidFill>
                <a:latin typeface="Calibri" panose="020F0502020204030204" pitchFamily="34" charset="0"/>
                <a:ea typeface="Public Sans" pitchFamily="34" charset="-122"/>
                <a:cs typeface="Calibri" panose="020F0502020204030204" pitchFamily="34" charset="0"/>
              </a:rPr>
              <a:t>Созданы </a:t>
            </a:r>
            <a:r>
              <a:rPr lang="en-US" sz="1200" dirty="0">
                <a:solidFill>
                  <a:srgbClr val="4B6981"/>
                </a:solidFill>
                <a:latin typeface="Calibri" panose="020F0502020204030204" pitchFamily="34" charset="0"/>
                <a:ea typeface="Public Sans" pitchFamily="34" charset="-122"/>
                <a:cs typeface="Calibri" panose="020F0502020204030204" pitchFamily="34" charset="0"/>
              </a:rPr>
              <a:t>SELECT-</a:t>
            </a:r>
            <a:r>
              <a:rPr lang="ru-RU" sz="1200" dirty="0">
                <a:solidFill>
                  <a:srgbClr val="4B6981"/>
                </a:solidFill>
                <a:latin typeface="Calibri" panose="020F0502020204030204" pitchFamily="34" charset="0"/>
                <a:ea typeface="Public Sans" pitchFamily="34" charset="-122"/>
                <a:cs typeface="Calibri" panose="020F0502020204030204" pitchFamily="34" charset="0"/>
              </a:rPr>
              <a:t>запросы</a:t>
            </a:r>
            <a:endParaRPr lang="en-US" sz="1200" dirty="0">
              <a:solidFill>
                <a:srgbClr val="4B6981"/>
              </a:solidFill>
            </a:endParaRPr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126973" y="1289771"/>
            <a:ext cx="354360" cy="35436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839848" y="3631089"/>
            <a:ext cx="22904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ru-RU" b="1" dirty="0">
                <a:solidFill>
                  <a:srgbClr val="4B6981"/>
                </a:solidFill>
                <a:latin typeface="Calibri" panose="020F0502020204030204" pitchFamily="34" charset="0"/>
                <a:ea typeface="Playfair Display Semi Bold" pitchFamily="34" charset="-122"/>
                <a:cs typeface="Calibri" panose="020F0502020204030204" pitchFamily="34" charset="0"/>
              </a:rPr>
              <a:t>Улучшения</a:t>
            </a:r>
            <a:endParaRPr lang="en-US" b="1" dirty="0">
              <a:solidFill>
                <a:srgbClr val="4B6981"/>
              </a:solidFill>
            </a:endParaRPr>
          </a:p>
        </p:txBody>
      </p:sp>
      <p:sp>
        <p:nvSpPr>
          <p:cNvPr id="14" name="Text 8"/>
          <p:cNvSpPr/>
          <p:nvPr/>
        </p:nvSpPr>
        <p:spPr>
          <a:xfrm>
            <a:off x="1839848" y="3881413"/>
            <a:ext cx="2290465" cy="689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50"/>
              </a:lnSpc>
              <a:buNone/>
            </a:pPr>
            <a:r>
              <a:rPr lang="ru-RU" sz="1200" dirty="0">
                <a:solidFill>
                  <a:srgbClr val="4B6981"/>
                </a:solidFill>
                <a:latin typeface="Calibri" panose="020F0502020204030204" pitchFamily="34" charset="0"/>
                <a:ea typeface="Public Sans" pitchFamily="34" charset="-122"/>
                <a:cs typeface="Calibri" panose="020F0502020204030204" pitchFamily="34" charset="0"/>
              </a:rPr>
              <a:t>Написаны представления и версионные триггеры</a:t>
            </a:r>
            <a:endParaRPr lang="en-US" sz="1200" dirty="0">
              <a:solidFill>
                <a:srgbClr val="4B6981"/>
              </a:solidFill>
            </a:endParaRPr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807901" y="3170301"/>
            <a:ext cx="354360" cy="35436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013683" y="3634723"/>
            <a:ext cx="22904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b="1" dirty="0">
                <a:solidFill>
                  <a:srgbClr val="4B6981"/>
                </a:solidFill>
                <a:latin typeface="Calibri" panose="020F0502020204030204" pitchFamily="34" charset="0"/>
                <a:ea typeface="Playfair Display Semi Bold" pitchFamily="34" charset="-122"/>
                <a:cs typeface="Calibri" panose="020F0502020204030204" pitchFamily="34" charset="0"/>
              </a:rPr>
              <a:t>Тестирование</a:t>
            </a:r>
            <a:endParaRPr lang="en-US" b="1" dirty="0">
              <a:solidFill>
                <a:srgbClr val="4B6981"/>
              </a:solidFill>
            </a:endParaRPr>
          </a:p>
        </p:txBody>
      </p:sp>
      <p:sp>
        <p:nvSpPr>
          <p:cNvPr id="17" name="Text 10"/>
          <p:cNvSpPr/>
          <p:nvPr/>
        </p:nvSpPr>
        <p:spPr>
          <a:xfrm>
            <a:off x="5013684" y="3856179"/>
            <a:ext cx="2290464" cy="7147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50"/>
              </a:lnSpc>
              <a:buNone/>
            </a:pPr>
            <a:r>
              <a:rPr lang="ru-RU" sz="1200" dirty="0">
                <a:solidFill>
                  <a:srgbClr val="4B6981"/>
                </a:solidFill>
                <a:latin typeface="Calibri" panose="020F0502020204030204" pitchFamily="34" charset="0"/>
                <a:ea typeface="Public Sans" pitchFamily="34" charset="-122"/>
                <a:cs typeface="Calibri" panose="020F0502020204030204" pitchFamily="34" charset="0"/>
              </a:rPr>
              <a:t>Выполнена проверка на </a:t>
            </a:r>
            <a:r>
              <a:rPr lang="en-US" sz="1200" dirty="0">
                <a:solidFill>
                  <a:srgbClr val="4B6981"/>
                </a:solidFill>
                <a:latin typeface="Calibri" panose="020F0502020204030204" pitchFamily="34" charset="0"/>
                <a:ea typeface="Public Sans" pitchFamily="34" charset="-122"/>
                <a:cs typeface="Calibri" panose="020F0502020204030204" pitchFamily="34" charset="0"/>
              </a:rPr>
              <a:t>Python</a:t>
            </a:r>
            <a:endParaRPr lang="en-US" sz="1200" dirty="0">
              <a:solidFill>
                <a:srgbClr val="4B698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">
            <a:extLst>
              <a:ext uri="{FF2B5EF4-FFF2-40B4-BE49-F238E27FC236}">
                <a16:creationId xmlns:a16="http://schemas.microsoft.com/office/drawing/2014/main" id="{7FF8310C-8749-71F5-7F0E-FC5D430E70C8}"/>
              </a:ext>
            </a:extLst>
          </p:cNvPr>
          <p:cNvSpPr/>
          <p:nvPr/>
        </p:nvSpPr>
        <p:spPr>
          <a:xfrm>
            <a:off x="4169252" y="1832283"/>
            <a:ext cx="496119" cy="878979"/>
          </a:xfrm>
          <a:prstGeom prst="roundRect">
            <a:avLst>
              <a:gd name="adj" fmla="val 360048"/>
            </a:avLst>
          </a:prstGeom>
          <a:solidFill>
            <a:srgbClr val="E1C2C2">
              <a:alpha val="50000"/>
            </a:srgbClr>
          </a:solidFill>
          <a:ln w="4763">
            <a:solidFill>
              <a:srgbClr val="C7A8A8"/>
            </a:solidFill>
            <a:prstDash val="solid"/>
          </a:ln>
          <a:effectLst>
            <a:outerShdw dist="15240" dir="2700000" algn="bl" rotWithShape="0">
              <a:srgbClr val="C7A8A8">
                <a:alpha val="10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3771900" cy="5143500"/>
          </a:xfrm>
          <a:prstGeom prst="rect">
            <a:avLst/>
          </a:prstGeom>
          <a:solidFill>
            <a:srgbClr val="F0DEDC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11" y="588764"/>
            <a:ext cx="2974479" cy="39659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771901" y="216027"/>
            <a:ext cx="5372099" cy="487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50"/>
              </a:lnSpc>
              <a:buNone/>
            </a:pPr>
            <a:r>
              <a:rPr lang="ru-RU" sz="3200" dirty="0">
                <a:solidFill>
                  <a:srgbClr val="4B6981"/>
                </a:solidFill>
                <a:latin typeface="Calibri" panose="020F0502020204030204" pitchFamily="34" charset="0"/>
                <a:ea typeface="Playfair Display Semi Bold" pitchFamily="34" charset="-122"/>
                <a:cs typeface="Calibri" panose="020F0502020204030204" pitchFamily="34" charset="0"/>
              </a:rPr>
              <a:t>Заключение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4169252" y="845870"/>
            <a:ext cx="496119" cy="878979"/>
          </a:xfrm>
          <a:prstGeom prst="roundRect">
            <a:avLst>
              <a:gd name="adj" fmla="val 360048"/>
            </a:avLst>
          </a:prstGeom>
          <a:solidFill>
            <a:srgbClr val="E1C2C2">
              <a:alpha val="50000"/>
            </a:srgbClr>
          </a:solidFill>
          <a:ln w="4763">
            <a:solidFill>
              <a:srgbClr val="C7A8A8"/>
            </a:solidFill>
            <a:prstDash val="solid"/>
          </a:ln>
          <a:effectLst>
            <a:outerShdw dist="15240" dir="2700000" algn="bl" rotWithShape="0">
              <a:srgbClr val="C7A8A8">
                <a:alpha val="10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6" name="Text 3"/>
          <p:cNvSpPr/>
          <p:nvPr/>
        </p:nvSpPr>
        <p:spPr>
          <a:xfrm>
            <a:off x="4324256" y="1163693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4B6981"/>
                </a:solidFill>
                <a:latin typeface="Calibri" panose="020F0502020204030204" pitchFamily="34" charset="0"/>
                <a:ea typeface="Playfair Display Semi Bold" pitchFamily="34" charset="-122"/>
                <a:cs typeface="Calibri" panose="020F0502020204030204" pitchFamily="34" charset="0"/>
              </a:rPr>
              <a:t>1</a:t>
            </a:r>
            <a:endParaRPr lang="en-US" sz="1450" b="1" dirty="0">
              <a:solidFill>
                <a:srgbClr val="4B6981"/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4773866" y="937026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b="1" dirty="0">
                <a:solidFill>
                  <a:srgbClr val="4B6981"/>
                </a:solidFill>
                <a:latin typeface="Calibri" panose="020F0502020204030204" pitchFamily="34" charset="0"/>
                <a:ea typeface="Playfair Display Semi Bold" pitchFamily="34" charset="-122"/>
                <a:cs typeface="Calibri" panose="020F0502020204030204" pitchFamily="34" charset="0"/>
              </a:rPr>
              <a:t>Достигнуто</a:t>
            </a:r>
            <a:endParaRPr lang="en-US" b="1" dirty="0">
              <a:solidFill>
                <a:srgbClr val="4B6981"/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4773866" y="1228805"/>
            <a:ext cx="4151228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200" dirty="0">
                <a:solidFill>
                  <a:srgbClr val="4B6981"/>
                </a:solidFill>
                <a:latin typeface="Calibri" panose="020F0502020204030204" pitchFamily="34" charset="0"/>
                <a:ea typeface="Public Sans" pitchFamily="34" charset="-122"/>
                <a:cs typeface="Calibri" panose="020F0502020204030204" pitchFamily="34" charset="0"/>
              </a:rPr>
              <a:t>Полноценная БД с основными таблицами, версионирование студентов, представления, 10 аналитических запросов и </a:t>
            </a:r>
            <a:r>
              <a:rPr lang="ru-RU" sz="1200" dirty="0">
                <a:solidFill>
                  <a:srgbClr val="4B6981"/>
                </a:solidFill>
                <a:latin typeface="Calibri" panose="020F0502020204030204" pitchFamily="34" charset="0"/>
                <a:ea typeface="Public Sans" pitchFamily="34" charset="-122"/>
                <a:cs typeface="Calibri" panose="020F0502020204030204" pitchFamily="34" charset="0"/>
              </a:rPr>
              <a:t>тесты</a:t>
            </a:r>
            <a:endParaRPr lang="en-US" sz="1200" dirty="0">
              <a:solidFill>
                <a:srgbClr val="4B6981"/>
              </a:solidFill>
            </a:endParaRPr>
          </a:p>
        </p:txBody>
      </p:sp>
      <p:sp>
        <p:nvSpPr>
          <p:cNvPr id="10" name="Text 7"/>
          <p:cNvSpPr/>
          <p:nvPr/>
        </p:nvSpPr>
        <p:spPr>
          <a:xfrm>
            <a:off x="4324255" y="2155500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4B6981"/>
                </a:solidFill>
                <a:latin typeface="Calibri" panose="020F0502020204030204" pitchFamily="34" charset="0"/>
                <a:ea typeface="Playfair Display Semi Bold" pitchFamily="34" charset="-122"/>
                <a:cs typeface="Calibri" panose="020F0502020204030204" pitchFamily="34" charset="0"/>
              </a:rPr>
              <a:t>2</a:t>
            </a:r>
            <a:endParaRPr lang="en-US" sz="1450" b="1" dirty="0">
              <a:solidFill>
                <a:srgbClr val="4B6981"/>
              </a:solidFill>
            </a:endParaRPr>
          </a:p>
        </p:txBody>
      </p:sp>
      <p:sp>
        <p:nvSpPr>
          <p:cNvPr id="11" name="Text 8"/>
          <p:cNvSpPr/>
          <p:nvPr/>
        </p:nvSpPr>
        <p:spPr>
          <a:xfrm>
            <a:off x="4773866" y="1975519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b="1" dirty="0">
                <a:solidFill>
                  <a:srgbClr val="4B6981"/>
                </a:solidFill>
                <a:latin typeface="Calibri" panose="020F0502020204030204" pitchFamily="34" charset="0"/>
                <a:ea typeface="Playfair Display Semi Bold" pitchFamily="34" charset="-122"/>
                <a:cs typeface="Calibri" panose="020F0502020204030204" pitchFamily="34" charset="0"/>
              </a:rPr>
              <a:t>Применение</a:t>
            </a:r>
            <a:endParaRPr lang="en-US" b="1" dirty="0">
              <a:solidFill>
                <a:srgbClr val="4B6981"/>
              </a:solidFill>
            </a:endParaRPr>
          </a:p>
        </p:txBody>
      </p:sp>
      <p:sp>
        <p:nvSpPr>
          <p:cNvPr id="12" name="Text 9"/>
          <p:cNvSpPr/>
          <p:nvPr/>
        </p:nvSpPr>
        <p:spPr>
          <a:xfrm>
            <a:off x="4773866" y="2271771"/>
            <a:ext cx="4151228" cy="590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ru-RU" sz="1200" dirty="0">
                <a:solidFill>
                  <a:srgbClr val="4B6981"/>
                </a:solidFill>
                <a:latin typeface="Calibri" panose="020F0502020204030204" pitchFamily="34" charset="0"/>
                <a:ea typeface="Public Sans" pitchFamily="34" charset="-122"/>
                <a:cs typeface="Calibri" panose="020F0502020204030204" pitchFamily="34" charset="0"/>
              </a:rPr>
              <a:t>Систему можно применять в учебных заведениях, в том числе</a:t>
            </a:r>
          </a:p>
          <a:p>
            <a:pPr marL="0" indent="0">
              <a:lnSpc>
                <a:spcPts val="1450"/>
              </a:lnSpc>
              <a:buNone/>
            </a:pPr>
            <a:r>
              <a:rPr lang="ru-RU" sz="1200" dirty="0">
                <a:solidFill>
                  <a:srgbClr val="4B6981"/>
                </a:solidFill>
                <a:latin typeface="Calibri" panose="020F0502020204030204" pitchFamily="34" charset="0"/>
                <a:ea typeface="Public Sans" pitchFamily="34" charset="-122"/>
                <a:cs typeface="Calibri" panose="020F0502020204030204" pitchFamily="34" charset="0"/>
              </a:rPr>
              <a:t>на платформах для онлайн обучения</a:t>
            </a:r>
            <a:endParaRPr lang="en-US" sz="1200" dirty="0">
              <a:solidFill>
                <a:srgbClr val="4B6981"/>
              </a:solidFill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D3039B33-9DC7-90BC-8672-3257E30306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311" y="2964851"/>
            <a:ext cx="1652744" cy="165274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538ED8A-E1B0-F3E0-E615-0F79958C3E9E}"/>
              </a:ext>
            </a:extLst>
          </p:cNvPr>
          <p:cNvSpPr txBox="1"/>
          <p:nvPr/>
        </p:nvSpPr>
        <p:spPr>
          <a:xfrm>
            <a:off x="5623312" y="4617595"/>
            <a:ext cx="16527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4B6981"/>
                </a:solidFill>
              </a:rPr>
              <a:t>GitHub</a:t>
            </a:r>
            <a:endParaRPr lang="ru-RU" sz="1200" dirty="0">
              <a:solidFill>
                <a:srgbClr val="4B698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144</Words>
  <Application>Microsoft Office PowerPoint</Application>
  <PresentationFormat>Экран (16:9)</PresentationFormat>
  <Paragraphs>44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Сергей Прохоренко</cp:lastModifiedBy>
  <cp:revision>10</cp:revision>
  <dcterms:created xsi:type="dcterms:W3CDTF">2026-05-14T12:21:36Z</dcterms:created>
  <dcterms:modified xsi:type="dcterms:W3CDTF">2026-05-15T04:23:19Z</dcterms:modified>
</cp:coreProperties>
</file>